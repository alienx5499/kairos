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13613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536637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 CAPSTONE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520721" y="720090"/>
            <a:ext cx="371726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 TERM 9 · FINAL PROJECT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50193"/>
            <a:ext cx="4036162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29"/>
              </a:lnSpc>
              <a:buNone/>
            </a:pPr>
            <a:r>
              <a:rPr lang="en-US" sz="9120" b="1" spc="-20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Kairos</a:t>
            </a:r>
            <a:endParaRPr lang="en-US" sz="9120" dirty="0"/>
          </a:p>
        </p:txBody>
      </p:sp>
      <p:sp>
        <p:nvSpPr>
          <p:cNvPr id="10" name="Text 8"/>
          <p:cNvSpPr/>
          <p:nvPr/>
        </p:nvSpPr>
        <p:spPr>
          <a:xfrm>
            <a:off x="914400" y="2596759"/>
            <a:ext cx="5310226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29"/>
              </a:lnSpc>
              <a:buNone/>
            </a:pPr>
            <a:r>
              <a:rPr lang="en-US" sz="9120" b="1" spc="-200" kern="0" dirty="0">
                <a:solidFill>
                  <a:srgbClr val="274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9120" dirty="0"/>
          </a:p>
        </p:txBody>
      </p:sp>
      <p:sp>
        <p:nvSpPr>
          <p:cNvPr id="11" name="Text 9"/>
          <p:cNvSpPr/>
          <p:nvPr/>
        </p:nvSpPr>
        <p:spPr>
          <a:xfrm>
            <a:off x="5984108" y="2596759"/>
            <a:ext cx="5969569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29"/>
              </a:lnSpc>
              <a:buNone/>
            </a:pPr>
            <a:r>
              <a:rPr lang="en-US" sz="9120" b="1" spc="-20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9120" dirty="0"/>
          </a:p>
        </p:txBody>
      </p:sp>
      <p:sp>
        <p:nvSpPr>
          <p:cNvPr id="12" name="Text 10"/>
          <p:cNvSpPr/>
          <p:nvPr/>
        </p:nvSpPr>
        <p:spPr>
          <a:xfrm>
            <a:off x="914400" y="3743325"/>
            <a:ext cx="7181149" cy="1284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29"/>
              </a:lnSpc>
              <a:buNone/>
            </a:pPr>
            <a:r>
              <a:rPr lang="en-US" sz="9120" b="1" spc="-20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AWS EKS</a:t>
            </a:r>
            <a:endParaRPr lang="en-US" sz="9120" dirty="0"/>
          </a:p>
        </p:txBody>
      </p:sp>
      <p:sp>
        <p:nvSpPr>
          <p:cNvPr id="13" name="Text 11"/>
          <p:cNvSpPr/>
          <p:nvPr/>
        </p:nvSpPr>
        <p:spPr>
          <a:xfrm>
            <a:off x="914400" y="5091471"/>
            <a:ext cx="9028146" cy="31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60" spc="-12" kern="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outage tracker taken from git push to a monitored Kubernetes cluster.</a:t>
            </a:r>
            <a:endParaRPr lang="en-US" sz="1860" dirty="0"/>
          </a:p>
        </p:txBody>
      </p:sp>
      <p:sp>
        <p:nvSpPr>
          <p:cNvPr id="14" name="Shape 12"/>
          <p:cNvSpPr/>
          <p:nvPr/>
        </p:nvSpPr>
        <p:spPr>
          <a:xfrm>
            <a:off x="914400" y="5914065"/>
            <a:ext cx="12801600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6150254"/>
            <a:ext cx="3964930" cy="9058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7737" y="6150254"/>
            <a:ext cx="11593" cy="905805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979443"/>
            <a:ext cx="560344" cy="9722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46"/>
              </a:lnSpc>
              <a:buNone/>
            </a:pPr>
            <a:r>
              <a:rPr lang="en-US" sz="5544" b="1" spc="-126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5544" dirty="0"/>
          </a:p>
        </p:txBody>
      </p:sp>
      <p:sp>
        <p:nvSpPr>
          <p:cNvPr id="18" name="Text 16"/>
          <p:cNvSpPr/>
          <p:nvPr/>
        </p:nvSpPr>
        <p:spPr>
          <a:xfrm>
            <a:off x="1354318" y="6366510"/>
            <a:ext cx="612648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6781830"/>
            <a:ext cx="37439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CI/CD PIPELINE</a:t>
            </a:r>
            <a:endParaRPr lang="en-US" sz="1584" dirty="0"/>
          </a:p>
        </p:txBody>
      </p:sp>
      <p:sp>
        <p:nvSpPr>
          <p:cNvPr id="20" name="Shape 18"/>
          <p:cNvSpPr/>
          <p:nvPr/>
        </p:nvSpPr>
        <p:spPr>
          <a:xfrm>
            <a:off x="5184099" y="6150254"/>
            <a:ext cx="3965021" cy="9058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7528" y="6150254"/>
            <a:ext cx="11593" cy="905805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84099" y="5979443"/>
            <a:ext cx="1398209" cy="9722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46"/>
              </a:lnSpc>
              <a:buNone/>
            </a:pPr>
            <a:r>
              <a:rPr lang="en-US" sz="5544" b="1" spc="-126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5/5</a:t>
            </a:r>
            <a:endParaRPr lang="en-US" sz="5544" dirty="0"/>
          </a:p>
        </p:txBody>
      </p:sp>
      <p:sp>
        <p:nvSpPr>
          <p:cNvPr id="23" name="Text 21"/>
          <p:cNvSpPr/>
          <p:nvPr/>
        </p:nvSpPr>
        <p:spPr>
          <a:xfrm>
            <a:off x="6381872" y="6366510"/>
            <a:ext cx="649224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84099" y="6781830"/>
            <a:ext cx="374401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ON EKS</a:t>
            </a:r>
            <a:endParaRPr lang="en-US" sz="1584" dirty="0"/>
          </a:p>
        </p:txBody>
      </p:sp>
      <p:sp>
        <p:nvSpPr>
          <p:cNvPr id="25" name="Text 23"/>
          <p:cNvSpPr/>
          <p:nvPr/>
        </p:nvSpPr>
        <p:spPr>
          <a:xfrm>
            <a:off x="9453890" y="5979443"/>
            <a:ext cx="560344" cy="9722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46"/>
              </a:lnSpc>
              <a:buNone/>
            </a:pPr>
            <a:r>
              <a:rPr lang="en-US" sz="5544" b="1" spc="-126" kern="0" dirty="0">
                <a:solidFill>
                  <a:srgbClr val="F3F2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5544" dirty="0"/>
          </a:p>
        </p:txBody>
      </p:sp>
      <p:sp>
        <p:nvSpPr>
          <p:cNvPr id="26" name="Text 24"/>
          <p:cNvSpPr/>
          <p:nvPr/>
        </p:nvSpPr>
        <p:spPr>
          <a:xfrm>
            <a:off x="9893899" y="6366510"/>
            <a:ext cx="710763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800" b="1" spc="-22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53890" y="6781830"/>
            <a:ext cx="374391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FIXABLE HIGH/CRITICAL</a:t>
            </a:r>
            <a:endParaRPr lang="en-US" sz="1584" dirty="0"/>
          </a:p>
        </p:txBody>
      </p:sp>
      <p:sp>
        <p:nvSpPr>
          <p:cNvPr id="28" name="Text 26"/>
          <p:cNvSpPr/>
          <p:nvPr/>
        </p:nvSpPr>
        <p:spPr>
          <a:xfrm>
            <a:off x="914400" y="7254210"/>
            <a:ext cx="185435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PRABAL PATRA</a:t>
            </a:r>
            <a:endParaRPr lang="en-US" sz="1584" dirty="0"/>
          </a:p>
        </p:txBody>
      </p:sp>
      <p:sp>
        <p:nvSpPr>
          <p:cNvPr id="29" name="Text 27"/>
          <p:cNvSpPr/>
          <p:nvPr/>
        </p:nvSpPr>
        <p:spPr>
          <a:xfrm>
            <a:off x="2724546" y="7254210"/>
            <a:ext cx="124335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 2026</a:t>
            </a:r>
            <a:endParaRPr lang="en-US" sz="1584" dirty="0"/>
          </a:p>
        </p:txBody>
      </p:sp>
      <p:sp>
        <p:nvSpPr>
          <p:cNvPr id="30" name="Text 28"/>
          <p:cNvSpPr/>
          <p:nvPr/>
        </p:nvSpPr>
        <p:spPr>
          <a:xfrm>
            <a:off x="4043020" y="7254210"/>
            <a:ext cx="266437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ALIENX5499/KAIROS</a:t>
            </a:r>
            <a:endParaRPr lang="en-US" sz="1584" dirty="0"/>
          </a:p>
        </p:txBody>
      </p:sp>
      <p:sp>
        <p:nvSpPr>
          <p:cNvPr id="31" name="Text 29"/>
          <p:cNvSpPr/>
          <p:nvPr/>
        </p:nvSpPr>
        <p:spPr>
          <a:xfrm>
            <a:off x="11995465" y="7254210"/>
            <a:ext cx="20773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REACT</a:t>
            </a:r>
            <a:endParaRPr lang="en-US" sz="15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964143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08223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2118269" y="720090"/>
            <a:ext cx="194273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COVER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17433"/>
            <a:ext cx="1060887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1883847" y="1417433"/>
            <a:ext cx="1989094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975390" y="2173825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1920240" y="2137136"/>
            <a:ext cx="1521714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Kairos</a:t>
            </a:r>
            <a:endParaRPr lang="en-US" sz="2040" dirty="0"/>
          </a:p>
        </p:txBody>
      </p:sp>
      <p:sp>
        <p:nvSpPr>
          <p:cNvPr id="13" name="Text 11"/>
          <p:cNvSpPr/>
          <p:nvPr/>
        </p:nvSpPr>
        <p:spPr>
          <a:xfrm>
            <a:off x="1920240" y="2467783"/>
            <a:ext cx="136996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254" dirty="0"/>
          </a:p>
        </p:txBody>
      </p:sp>
      <p:sp>
        <p:nvSpPr>
          <p:cNvPr id="14" name="Shape 12"/>
          <p:cNvSpPr/>
          <p:nvPr/>
        </p:nvSpPr>
        <p:spPr>
          <a:xfrm>
            <a:off x="13487400" y="2397648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2799436"/>
            <a:ext cx="12801600" cy="7882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799436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90" y="2961946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720" dirty="0"/>
          </a:p>
        </p:txBody>
      </p:sp>
      <p:sp>
        <p:nvSpPr>
          <p:cNvPr id="18" name="Text 16"/>
          <p:cNvSpPr/>
          <p:nvPr/>
        </p:nvSpPr>
        <p:spPr>
          <a:xfrm>
            <a:off x="1920240" y="2925257"/>
            <a:ext cx="1521714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040" dirty="0"/>
          </a:p>
        </p:txBody>
      </p:sp>
      <p:sp>
        <p:nvSpPr>
          <p:cNvPr id="19" name="Text 17"/>
          <p:cNvSpPr/>
          <p:nvPr/>
        </p:nvSpPr>
        <p:spPr>
          <a:xfrm>
            <a:off x="1920240" y="3255904"/>
            <a:ext cx="149089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LAYERS</a:t>
            </a:r>
            <a:endParaRPr lang="en-US" sz="1254" dirty="0"/>
          </a:p>
        </p:txBody>
      </p:sp>
      <p:sp>
        <p:nvSpPr>
          <p:cNvPr id="20" name="Shape 18"/>
          <p:cNvSpPr/>
          <p:nvPr/>
        </p:nvSpPr>
        <p:spPr>
          <a:xfrm>
            <a:off x="13487400" y="3185861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587557"/>
            <a:ext cx="12801600" cy="7882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587557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5390" y="3750067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720" dirty="0"/>
          </a:p>
        </p:txBody>
      </p:sp>
      <p:sp>
        <p:nvSpPr>
          <p:cNvPr id="24" name="Text 22"/>
          <p:cNvSpPr/>
          <p:nvPr/>
        </p:nvSpPr>
        <p:spPr>
          <a:xfrm>
            <a:off x="1920240" y="3713470"/>
            <a:ext cx="1272997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2040" dirty="0"/>
          </a:p>
        </p:txBody>
      </p:sp>
      <p:sp>
        <p:nvSpPr>
          <p:cNvPr id="25" name="Text 23"/>
          <p:cNvSpPr/>
          <p:nvPr/>
        </p:nvSpPr>
        <p:spPr>
          <a:xfrm>
            <a:off x="1920240" y="4044117"/>
            <a:ext cx="1546525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CI/CD ON PUSH</a:t>
            </a:r>
            <a:endParaRPr lang="en-US" sz="1254" dirty="0"/>
          </a:p>
        </p:txBody>
      </p:sp>
      <p:sp>
        <p:nvSpPr>
          <p:cNvPr id="26" name="Shape 24"/>
          <p:cNvSpPr/>
          <p:nvPr/>
        </p:nvSpPr>
        <p:spPr>
          <a:xfrm>
            <a:off x="13487400" y="3974074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375770"/>
            <a:ext cx="12801600" cy="7882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4400" y="4375770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5390" y="4538280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720" dirty="0"/>
          </a:p>
        </p:txBody>
      </p:sp>
      <p:sp>
        <p:nvSpPr>
          <p:cNvPr id="30" name="Text 28"/>
          <p:cNvSpPr/>
          <p:nvPr/>
        </p:nvSpPr>
        <p:spPr>
          <a:xfrm>
            <a:off x="1920240" y="4501591"/>
            <a:ext cx="1557985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2040" dirty="0"/>
          </a:p>
        </p:txBody>
      </p:sp>
      <p:sp>
        <p:nvSpPr>
          <p:cNvPr id="31" name="Text 29"/>
          <p:cNvSpPr/>
          <p:nvPr/>
        </p:nvSpPr>
        <p:spPr>
          <a:xfrm>
            <a:off x="1920240" y="4832238"/>
            <a:ext cx="173274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</a:t>
            </a:r>
            <a:endParaRPr lang="en-US" sz="1254" dirty="0"/>
          </a:p>
        </p:txBody>
      </p:sp>
      <p:sp>
        <p:nvSpPr>
          <p:cNvPr id="32" name="Shape 30"/>
          <p:cNvSpPr/>
          <p:nvPr/>
        </p:nvSpPr>
        <p:spPr>
          <a:xfrm>
            <a:off x="13487400" y="4762287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" y="5163983"/>
            <a:ext cx="12801600" cy="7882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5163983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5390" y="5326493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720" dirty="0"/>
          </a:p>
        </p:txBody>
      </p:sp>
      <p:sp>
        <p:nvSpPr>
          <p:cNvPr id="36" name="Text 34"/>
          <p:cNvSpPr/>
          <p:nvPr/>
        </p:nvSpPr>
        <p:spPr>
          <a:xfrm>
            <a:off x="1920240" y="5289804"/>
            <a:ext cx="1580358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2040" dirty="0"/>
          </a:p>
        </p:txBody>
      </p:sp>
      <p:sp>
        <p:nvSpPr>
          <p:cNvPr id="37" name="Text 35"/>
          <p:cNvSpPr/>
          <p:nvPr/>
        </p:nvSpPr>
        <p:spPr>
          <a:xfrm>
            <a:off x="1920240" y="5620451"/>
            <a:ext cx="1183742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EKS + HELM</a:t>
            </a:r>
            <a:endParaRPr lang="en-US" sz="1254" dirty="0"/>
          </a:p>
        </p:txBody>
      </p:sp>
      <p:sp>
        <p:nvSpPr>
          <p:cNvPr id="38" name="Shape 36"/>
          <p:cNvSpPr/>
          <p:nvPr/>
        </p:nvSpPr>
        <p:spPr>
          <a:xfrm>
            <a:off x="13487400" y="5550499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5952195"/>
            <a:ext cx="12801600" cy="7882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4400" y="5952195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5390" y="6114706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720" dirty="0"/>
          </a:p>
        </p:txBody>
      </p:sp>
      <p:sp>
        <p:nvSpPr>
          <p:cNvPr id="42" name="Text 40"/>
          <p:cNvSpPr/>
          <p:nvPr/>
        </p:nvSpPr>
        <p:spPr>
          <a:xfrm>
            <a:off x="1920240" y="6078017"/>
            <a:ext cx="1985467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2040" dirty="0"/>
          </a:p>
        </p:txBody>
      </p:sp>
      <p:sp>
        <p:nvSpPr>
          <p:cNvPr id="43" name="Text 41"/>
          <p:cNvSpPr/>
          <p:nvPr/>
        </p:nvSpPr>
        <p:spPr>
          <a:xfrm>
            <a:off x="1920240" y="6408664"/>
            <a:ext cx="1788380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TRIVY + GRAFANA</a:t>
            </a:r>
            <a:endParaRPr lang="en-US" sz="1254" dirty="0"/>
          </a:p>
        </p:txBody>
      </p:sp>
      <p:sp>
        <p:nvSpPr>
          <p:cNvPr id="44" name="Shape 42"/>
          <p:cNvSpPr/>
          <p:nvPr/>
        </p:nvSpPr>
        <p:spPr>
          <a:xfrm>
            <a:off x="13487400" y="6338621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" y="6740408"/>
            <a:ext cx="12801600" cy="78821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4400" y="6740408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5390" y="6902919"/>
            <a:ext cx="7144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348"/>
              </a:lnSpc>
              <a:buNone/>
            </a:pPr>
            <a:r>
              <a:rPr lang="en-US" sz="3720" b="1" spc="-93" kern="0" dirty="0">
                <a:solidFill>
                  <a:srgbClr val="F3F2EE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720" dirty="0"/>
          </a:p>
        </p:txBody>
      </p:sp>
      <p:sp>
        <p:nvSpPr>
          <p:cNvPr id="48" name="Text 46"/>
          <p:cNvSpPr/>
          <p:nvPr/>
        </p:nvSpPr>
        <p:spPr>
          <a:xfrm>
            <a:off x="1920240" y="6866230"/>
            <a:ext cx="1842973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</a:t>
            </a:r>
            <a:endParaRPr lang="en-US" sz="2040" dirty="0"/>
          </a:p>
        </p:txBody>
      </p:sp>
      <p:sp>
        <p:nvSpPr>
          <p:cNvPr id="49" name="Text 47"/>
          <p:cNvSpPr/>
          <p:nvPr/>
        </p:nvSpPr>
        <p:spPr>
          <a:xfrm>
            <a:off x="1920240" y="7196877"/>
            <a:ext cx="1802713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THESE TOOLS</a:t>
            </a:r>
            <a:endParaRPr lang="en-US" sz="1254" dirty="0"/>
          </a:p>
        </p:txBody>
      </p:sp>
      <p:sp>
        <p:nvSpPr>
          <p:cNvPr id="50" name="Shape 48"/>
          <p:cNvSpPr/>
          <p:nvPr/>
        </p:nvSpPr>
        <p:spPr>
          <a:xfrm>
            <a:off x="13487400" y="7126834"/>
            <a:ext cx="167610" cy="2286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13613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389784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WHY KAIROS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626687" y="720090"/>
            <a:ext cx="255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AND STACK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569863"/>
            <a:ext cx="3293120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Outages need</a:t>
            </a:r>
            <a:endParaRPr lang="en-US" sz="3720" dirty="0"/>
          </a:p>
        </p:txBody>
      </p:sp>
      <p:sp>
        <p:nvSpPr>
          <p:cNvPr id="10" name="Text 8"/>
          <p:cNvSpPr/>
          <p:nvPr/>
        </p:nvSpPr>
        <p:spPr>
          <a:xfrm>
            <a:off x="914400" y="2080007"/>
            <a:ext cx="1300277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log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914400" y="2856768"/>
            <a:ext cx="306004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lose track of who owns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914400" y="3165378"/>
            <a:ext cx="119397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outage.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914400" y="3771168"/>
            <a:ext cx="354051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KAIROS KEEPS ONE RECORD.</a:t>
            </a:r>
            <a:endParaRPr lang="en-US" sz="1584" dirty="0"/>
          </a:p>
        </p:txBody>
      </p:sp>
      <p:sp>
        <p:nvSpPr>
          <p:cNvPr id="14" name="Shape 12"/>
          <p:cNvSpPr/>
          <p:nvPr/>
        </p:nvSpPr>
        <p:spPr>
          <a:xfrm>
            <a:off x="4968210" y="1554480"/>
            <a:ext cx="2712750" cy="59740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68210" y="1554480"/>
            <a:ext cx="2712750" cy="2318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8210" y="1767810"/>
            <a:ext cx="23847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584" dirty="0"/>
          </a:p>
        </p:txBody>
      </p:sp>
      <p:sp>
        <p:nvSpPr>
          <p:cNvPr id="17" name="Text 15"/>
          <p:cNvSpPr/>
          <p:nvPr/>
        </p:nvSpPr>
        <p:spPr>
          <a:xfrm>
            <a:off x="4968210" y="2118390"/>
            <a:ext cx="2804190" cy="395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760" b="1" spc="-34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2760" dirty="0"/>
          </a:p>
        </p:txBody>
      </p:sp>
      <p:sp>
        <p:nvSpPr>
          <p:cNvPr id="18" name="Text 16"/>
          <p:cNvSpPr/>
          <p:nvPr/>
        </p:nvSpPr>
        <p:spPr>
          <a:xfrm>
            <a:off x="4968210" y="2547336"/>
            <a:ext cx="223013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· FASTAPI</a:t>
            </a:r>
            <a:endParaRPr lang="en-US" sz="1584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8270" y="4033601"/>
            <a:ext cx="1752630" cy="1752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968210" y="7028718"/>
            <a:ext cx="344363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P1-P4 incidents, track status,</a:t>
            </a:r>
            <a:endParaRPr lang="en-US" sz="1440" dirty="0"/>
          </a:p>
        </p:txBody>
      </p:sp>
      <p:sp>
        <p:nvSpPr>
          <p:cNvPr id="21" name="Text 18"/>
          <p:cNvSpPr/>
          <p:nvPr/>
        </p:nvSpPr>
        <p:spPr>
          <a:xfrm>
            <a:off x="4968210" y="7293894"/>
            <a:ext cx="185257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in Postgres.</a:t>
            </a:r>
            <a:endParaRPr lang="en-US" sz="1440" dirty="0"/>
          </a:p>
        </p:txBody>
      </p:sp>
      <p:sp>
        <p:nvSpPr>
          <p:cNvPr id="22" name="Shape 19"/>
          <p:cNvSpPr/>
          <p:nvPr/>
        </p:nvSpPr>
        <p:spPr>
          <a:xfrm>
            <a:off x="7985730" y="1554480"/>
            <a:ext cx="2712750" cy="59740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85730" y="1554480"/>
            <a:ext cx="2712750" cy="2318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85730" y="1767810"/>
            <a:ext cx="23847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584" dirty="0"/>
          </a:p>
        </p:txBody>
      </p:sp>
      <p:sp>
        <p:nvSpPr>
          <p:cNvPr id="25" name="Text 22"/>
          <p:cNvSpPr/>
          <p:nvPr/>
        </p:nvSpPr>
        <p:spPr>
          <a:xfrm>
            <a:off x="7985730" y="2118390"/>
            <a:ext cx="2804190" cy="395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760" b="1" spc="-34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2760" dirty="0"/>
          </a:p>
        </p:txBody>
      </p:sp>
      <p:sp>
        <p:nvSpPr>
          <p:cNvPr id="26" name="Text 23"/>
          <p:cNvSpPr/>
          <p:nvPr/>
        </p:nvSpPr>
        <p:spPr>
          <a:xfrm>
            <a:off x="7985730" y="2547336"/>
            <a:ext cx="2382881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· ACTIONS</a:t>
            </a:r>
            <a:endParaRPr lang="en-US" sz="1584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5790" y="4033601"/>
            <a:ext cx="1752630" cy="175263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985730" y="7028718"/>
            <a:ext cx="267370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push is tested, built,</a:t>
            </a:r>
            <a:endParaRPr lang="en-US" sz="1440" dirty="0"/>
          </a:p>
        </p:txBody>
      </p:sp>
      <p:sp>
        <p:nvSpPr>
          <p:cNvPr id="29" name="Text 25"/>
          <p:cNvSpPr/>
          <p:nvPr/>
        </p:nvSpPr>
        <p:spPr>
          <a:xfrm>
            <a:off x="7985730" y="7293894"/>
            <a:ext cx="272308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scanned and pushed to GHCR.</a:t>
            </a:r>
            <a:endParaRPr lang="en-US" sz="1440" dirty="0"/>
          </a:p>
        </p:txBody>
      </p:sp>
      <p:sp>
        <p:nvSpPr>
          <p:cNvPr id="30" name="Shape 26"/>
          <p:cNvSpPr/>
          <p:nvPr/>
        </p:nvSpPr>
        <p:spPr>
          <a:xfrm>
            <a:off x="11003250" y="1554480"/>
            <a:ext cx="2712750" cy="59740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003250" y="1554480"/>
            <a:ext cx="2712750" cy="2318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003250" y="1767810"/>
            <a:ext cx="23847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584" dirty="0"/>
          </a:p>
        </p:txBody>
      </p:sp>
      <p:sp>
        <p:nvSpPr>
          <p:cNvPr id="33" name="Text 29"/>
          <p:cNvSpPr/>
          <p:nvPr/>
        </p:nvSpPr>
        <p:spPr>
          <a:xfrm>
            <a:off x="11003250" y="2118390"/>
            <a:ext cx="2804190" cy="3954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98"/>
              </a:lnSpc>
              <a:buNone/>
            </a:pPr>
            <a:r>
              <a:rPr lang="en-US" sz="2760" b="1" spc="-34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2760" dirty="0"/>
          </a:p>
        </p:txBody>
      </p:sp>
      <p:sp>
        <p:nvSpPr>
          <p:cNvPr id="34" name="Text 30"/>
          <p:cNvSpPr/>
          <p:nvPr/>
        </p:nvSpPr>
        <p:spPr>
          <a:xfrm>
            <a:off x="11003250" y="2547336"/>
            <a:ext cx="223013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· EKS</a:t>
            </a:r>
            <a:endParaRPr lang="en-US" sz="1584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3310" y="3901105"/>
            <a:ext cx="1752630" cy="175263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1003250" y="6763542"/>
            <a:ext cx="2061058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deploys to EKS;</a:t>
            </a:r>
            <a:endParaRPr lang="en-US" sz="1440" dirty="0"/>
          </a:p>
        </p:txBody>
      </p:sp>
      <p:sp>
        <p:nvSpPr>
          <p:cNvPr id="37" name="Text 32"/>
          <p:cNvSpPr/>
          <p:nvPr/>
        </p:nvSpPr>
        <p:spPr>
          <a:xfrm>
            <a:off x="11003250" y="7028718"/>
            <a:ext cx="2832811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and Grafana watch</a:t>
            </a:r>
            <a:endParaRPr lang="en-US" sz="1440" dirty="0"/>
          </a:p>
        </p:txBody>
      </p:sp>
      <p:sp>
        <p:nvSpPr>
          <p:cNvPr id="38" name="Text 33"/>
          <p:cNvSpPr/>
          <p:nvPr/>
        </p:nvSpPr>
        <p:spPr>
          <a:xfrm>
            <a:off x="11003250" y="7293894"/>
            <a:ext cx="4114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it.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875709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116653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PIPELINE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012211" y="720090"/>
            <a:ext cx="325311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 ON PUSH</a:t>
            </a:r>
            <a:endParaRPr lang="en-US" sz="1584" dirty="0"/>
          </a:p>
        </p:txBody>
      </p:sp>
      <p:sp>
        <p:nvSpPr>
          <p:cNvPr id="9" name="Shape 7"/>
          <p:cNvSpPr/>
          <p:nvPr/>
        </p:nvSpPr>
        <p:spPr>
          <a:xfrm>
            <a:off x="914400" y="1463040"/>
            <a:ext cx="4267230" cy="284223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463040"/>
            <a:ext cx="4267230" cy="284223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14400" y="4442430"/>
            <a:ext cx="2787091" cy="312450"/>
          </a:xfrm>
          <a:prstGeom prst="rect">
            <a:avLst/>
          </a:prstGeom>
          <a:solidFill>
            <a:srgbClr val="C2F5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4442430"/>
            <a:ext cx="3297921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161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CI/CD PIPELINE PROOF</a:t>
            </a:r>
            <a:endParaRPr lang="en-US" sz="1584" dirty="0"/>
          </a:p>
        </p:txBody>
      </p:sp>
      <p:sp>
        <p:nvSpPr>
          <p:cNvPr id="13" name="Text 10"/>
          <p:cNvSpPr/>
          <p:nvPr/>
        </p:nvSpPr>
        <p:spPr>
          <a:xfrm>
            <a:off x="5730270" y="1485996"/>
            <a:ext cx="588261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to cluster</a:t>
            </a:r>
            <a:endParaRPr lang="en-US" sz="3720" dirty="0"/>
          </a:p>
        </p:txBody>
      </p:sp>
      <p:sp>
        <p:nvSpPr>
          <p:cNvPr id="14" name="Text 11"/>
          <p:cNvSpPr/>
          <p:nvPr/>
        </p:nvSpPr>
        <p:spPr>
          <a:xfrm>
            <a:off x="5730270" y="2178924"/>
            <a:ext cx="5448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push to main tests, builds, scans and deploys to EKS in</a:t>
            </a:r>
            <a:endParaRPr lang="en-US" sz="1620" dirty="0"/>
          </a:p>
        </p:txBody>
      </p:sp>
      <p:sp>
        <p:nvSpPr>
          <p:cNvPr id="15" name="Text 12"/>
          <p:cNvSpPr/>
          <p:nvPr/>
        </p:nvSpPr>
        <p:spPr>
          <a:xfrm>
            <a:off x="5730270" y="2487534"/>
            <a:ext cx="18441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 minutes.</a:t>
            </a:r>
            <a:endParaRPr lang="en-US" sz="1620" dirty="0"/>
          </a:p>
        </p:txBody>
      </p:sp>
      <p:sp>
        <p:nvSpPr>
          <p:cNvPr id="16" name="Shape 13"/>
          <p:cNvSpPr/>
          <p:nvPr/>
        </p:nvSpPr>
        <p:spPr>
          <a:xfrm>
            <a:off x="5749290" y="3078145"/>
            <a:ext cx="83850" cy="8385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83580" y="3161904"/>
            <a:ext cx="15270" cy="59280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19770" y="3017154"/>
            <a:ext cx="54397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37S</a:t>
            </a:r>
            <a:endParaRPr lang="en-US" sz="1584" dirty="0"/>
          </a:p>
        </p:txBody>
      </p:sp>
      <p:sp>
        <p:nvSpPr>
          <p:cNvPr id="19" name="Text 16"/>
          <p:cNvSpPr/>
          <p:nvPr/>
        </p:nvSpPr>
        <p:spPr>
          <a:xfrm>
            <a:off x="6495258" y="3032425"/>
            <a:ext cx="598322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680" dirty="0"/>
          </a:p>
        </p:txBody>
      </p:sp>
      <p:sp>
        <p:nvSpPr>
          <p:cNvPr id="20" name="Text 17"/>
          <p:cNvSpPr/>
          <p:nvPr/>
        </p:nvSpPr>
        <p:spPr>
          <a:xfrm>
            <a:off x="6019770" y="3352465"/>
            <a:ext cx="305958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suite and frontend build</a:t>
            </a:r>
            <a:endParaRPr lang="en-US" sz="1440" dirty="0"/>
          </a:p>
        </p:txBody>
      </p:sp>
      <p:sp>
        <p:nvSpPr>
          <p:cNvPr id="21" name="Shape 18"/>
          <p:cNvSpPr/>
          <p:nvPr/>
        </p:nvSpPr>
        <p:spPr>
          <a:xfrm>
            <a:off x="5749290" y="3815700"/>
            <a:ext cx="83850" cy="8385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83580" y="3899550"/>
            <a:ext cx="15270" cy="592806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19770" y="3754801"/>
            <a:ext cx="93785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 41S</a:t>
            </a:r>
            <a:endParaRPr lang="en-US" sz="1584" dirty="0"/>
          </a:p>
        </p:txBody>
      </p:sp>
      <p:sp>
        <p:nvSpPr>
          <p:cNvPr id="24" name="Text 21"/>
          <p:cNvSpPr/>
          <p:nvPr/>
        </p:nvSpPr>
        <p:spPr>
          <a:xfrm>
            <a:off x="6863944" y="3769980"/>
            <a:ext cx="145816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Scan</a:t>
            </a:r>
            <a:endParaRPr lang="en-US" sz="1680" dirty="0"/>
          </a:p>
        </p:txBody>
      </p:sp>
      <p:sp>
        <p:nvSpPr>
          <p:cNvPr id="25" name="Text 22"/>
          <p:cNvSpPr/>
          <p:nvPr/>
        </p:nvSpPr>
        <p:spPr>
          <a:xfrm>
            <a:off x="6019770" y="4090020"/>
            <a:ext cx="363382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images, Trivy HIGH/CRITICAL</a:t>
            </a:r>
            <a:endParaRPr lang="en-US" sz="1440" dirty="0"/>
          </a:p>
        </p:txBody>
      </p:sp>
      <p:sp>
        <p:nvSpPr>
          <p:cNvPr id="26" name="Shape 23"/>
          <p:cNvSpPr/>
          <p:nvPr/>
        </p:nvSpPr>
        <p:spPr>
          <a:xfrm>
            <a:off x="5730270" y="4553346"/>
            <a:ext cx="121890" cy="121890"/>
          </a:xfrm>
          <a:prstGeom prst="ellipse">
            <a:avLst/>
          </a:prstGeom>
          <a:solidFill>
            <a:srgbClr val="6E85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783580" y="4675236"/>
            <a:ext cx="15270" cy="554675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19770" y="4492356"/>
            <a:ext cx="109060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 TAG</a:t>
            </a:r>
            <a:endParaRPr lang="en-US" sz="1584" dirty="0"/>
          </a:p>
        </p:txBody>
      </p:sp>
      <p:sp>
        <p:nvSpPr>
          <p:cNvPr id="29" name="Text 26"/>
          <p:cNvSpPr/>
          <p:nvPr/>
        </p:nvSpPr>
        <p:spPr>
          <a:xfrm>
            <a:off x="6986839" y="4507626"/>
            <a:ext cx="612191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680" dirty="0"/>
          </a:p>
        </p:txBody>
      </p:sp>
      <p:sp>
        <p:nvSpPr>
          <p:cNvPr id="30" name="Text 27"/>
          <p:cNvSpPr/>
          <p:nvPr/>
        </p:nvSpPr>
        <p:spPr>
          <a:xfrm>
            <a:off x="6019770" y="4827666"/>
            <a:ext cx="309981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to GHCR tagged by commit</a:t>
            </a:r>
            <a:endParaRPr lang="en-US" sz="1440" dirty="0"/>
          </a:p>
        </p:txBody>
      </p:sp>
      <p:sp>
        <p:nvSpPr>
          <p:cNvPr id="31" name="Shape 28"/>
          <p:cNvSpPr/>
          <p:nvPr/>
        </p:nvSpPr>
        <p:spPr>
          <a:xfrm>
            <a:off x="5749290" y="5290901"/>
            <a:ext cx="83850" cy="83850"/>
          </a:xfrm>
          <a:prstGeom prst="ellipse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19770" y="5229911"/>
            <a:ext cx="54397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17S</a:t>
            </a:r>
            <a:endParaRPr lang="en-US" sz="1584" dirty="0"/>
          </a:p>
        </p:txBody>
      </p:sp>
      <p:sp>
        <p:nvSpPr>
          <p:cNvPr id="33" name="Text 30"/>
          <p:cNvSpPr/>
          <p:nvPr/>
        </p:nvSpPr>
        <p:spPr>
          <a:xfrm>
            <a:off x="6495258" y="5245181"/>
            <a:ext cx="83301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680" dirty="0"/>
          </a:p>
        </p:txBody>
      </p:sp>
      <p:sp>
        <p:nvSpPr>
          <p:cNvPr id="34" name="Text 31"/>
          <p:cNvSpPr/>
          <p:nvPr/>
        </p:nvSpPr>
        <p:spPr>
          <a:xfrm>
            <a:off x="6019770" y="5565221"/>
            <a:ext cx="296631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upgrade on EKS, pods roll</a:t>
            </a:r>
            <a:endParaRPr lang="en-US" sz="1440" dirty="0"/>
          </a:p>
        </p:txBody>
      </p:sp>
      <p:sp>
        <p:nvSpPr>
          <p:cNvPr id="35" name="Shape 32"/>
          <p:cNvSpPr/>
          <p:nvPr/>
        </p:nvSpPr>
        <p:spPr>
          <a:xfrm>
            <a:off x="5730270" y="6727058"/>
            <a:ext cx="7985730" cy="8015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730270" y="6727058"/>
            <a:ext cx="7985730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30270" y="6879397"/>
            <a:ext cx="8022306" cy="326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52"/>
              </a:lnSpc>
              <a:buNone/>
            </a:pPr>
            <a:r>
              <a:rPr lang="en-US" sz="168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pipeline, zero manual deploy steps.</a:t>
            </a:r>
            <a:endParaRPr lang="en-US" sz="1680" dirty="0"/>
          </a:p>
        </p:txBody>
      </p:sp>
      <p:sp>
        <p:nvSpPr>
          <p:cNvPr id="38" name="Text 35"/>
          <p:cNvSpPr/>
          <p:nvPr/>
        </p:nvSpPr>
        <p:spPr>
          <a:xfrm>
            <a:off x="5730270" y="7254210"/>
            <a:ext cx="20832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#4 · 2M 43S</a:t>
            </a:r>
            <a:endParaRPr lang="en-US" sz="1584" dirty="0"/>
          </a:p>
        </p:txBody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12222510" y="1386870"/>
            <a:ext cx="1493490" cy="14934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3308025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3844183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CODE AND CONTAINERS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0397734" y="720090"/>
            <a:ext cx="3998763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REPO, DOCKER COMPOSE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85900"/>
            <a:ext cx="358915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AND COMPOSE PROOF</a:t>
            </a:r>
            <a:endParaRPr lang="en-US" sz="1584" dirty="0"/>
          </a:p>
        </p:txBody>
      </p:sp>
      <p:sp>
        <p:nvSpPr>
          <p:cNvPr id="10" name="Text 8"/>
          <p:cNvSpPr/>
          <p:nvPr/>
        </p:nvSpPr>
        <p:spPr>
          <a:xfrm>
            <a:off x="914400" y="1958483"/>
            <a:ext cx="1451458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2064532" y="1958483"/>
            <a:ext cx="2382164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Docker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4300149" y="1958483"/>
            <a:ext cx="1408938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</a:t>
            </a:r>
            <a:endParaRPr lang="en-US" sz="3720" dirty="0"/>
          </a:p>
        </p:txBody>
      </p:sp>
      <p:sp>
        <p:nvSpPr>
          <p:cNvPr id="13" name="Text 11"/>
          <p:cNvSpPr/>
          <p:nvPr/>
        </p:nvSpPr>
        <p:spPr>
          <a:xfrm>
            <a:off x="914400" y="2643805"/>
            <a:ext cx="5534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service has its own Dockerfile; one compose command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914400" y="2952415"/>
            <a:ext cx="257037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all three locally.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914400" y="3457712"/>
            <a:ext cx="1727302" cy="987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86"/>
              </a:lnSpc>
              <a:buNone/>
            </a:pPr>
            <a:r>
              <a:rPr lang="en-US" sz="6960" b="1" spc="-200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6960" dirty="0"/>
          </a:p>
        </p:txBody>
      </p:sp>
      <p:sp>
        <p:nvSpPr>
          <p:cNvPr id="16" name="Text 14"/>
          <p:cNvSpPr/>
          <p:nvPr/>
        </p:nvSpPr>
        <p:spPr>
          <a:xfrm>
            <a:off x="2301728" y="3977274"/>
            <a:ext cx="1207896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1452" dirty="0"/>
          </a:p>
        </p:txBody>
      </p:sp>
      <p:sp>
        <p:nvSpPr>
          <p:cNvPr id="17" name="Text 15"/>
          <p:cNvSpPr/>
          <p:nvPr/>
        </p:nvSpPr>
        <p:spPr>
          <a:xfrm>
            <a:off x="2301728" y="4251594"/>
            <a:ext cx="1429207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in Compose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14400" y="4671395"/>
            <a:ext cx="1074694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3970" y="4671395"/>
            <a:ext cx="104546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80534" y="4671395"/>
            <a:ext cx="905347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10013" y="4671395"/>
            <a:ext cx="79400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Non-root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077322" y="4671395"/>
            <a:ext cx="1100389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6801" y="4671395"/>
            <a:ext cx="94030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commits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6714805"/>
            <a:ext cx="5620542" cy="8138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6714805"/>
            <a:ext cx="5620542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6897685"/>
            <a:ext cx="154885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DOCKER</a:t>
            </a:r>
            <a:endParaRPr lang="en-US" sz="1584" dirty="0"/>
          </a:p>
        </p:txBody>
      </p:sp>
      <p:sp>
        <p:nvSpPr>
          <p:cNvPr id="27" name="Text 25"/>
          <p:cNvSpPr/>
          <p:nvPr/>
        </p:nvSpPr>
        <p:spPr>
          <a:xfrm>
            <a:off x="914400" y="7263445"/>
            <a:ext cx="5711982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image runs on a laptop and on EKS.</a:t>
            </a:r>
            <a:endParaRPr lang="en-US" sz="1440" dirty="0"/>
          </a:p>
        </p:txBody>
      </p:sp>
      <p:sp>
        <p:nvSpPr>
          <p:cNvPr id="28" name="Shape 26"/>
          <p:cNvSpPr/>
          <p:nvPr/>
        </p:nvSpPr>
        <p:spPr>
          <a:xfrm>
            <a:off x="7083582" y="3154680"/>
            <a:ext cx="3429000" cy="228600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3582" y="3154680"/>
            <a:ext cx="3429000" cy="228600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10634563" y="3154680"/>
            <a:ext cx="3429000" cy="228600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34563" y="3154680"/>
            <a:ext cx="3429000" cy="22860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0766420" y="5562570"/>
            <a:ext cx="347613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REPO · COMPOSE PS</a:t>
            </a:r>
            <a:endParaRPr lang="en-US" sz="15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4089197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4856698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KUBERNETES AND MONITORING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9906244" y="720090"/>
            <a:ext cx="459166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EKS, HELM, PROMETHEUS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85900"/>
            <a:ext cx="270539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 PROOF</a:t>
            </a:r>
            <a:endParaRPr lang="en-US" sz="1584" dirty="0"/>
          </a:p>
        </p:txBody>
      </p:sp>
      <p:sp>
        <p:nvSpPr>
          <p:cNvPr id="10" name="Text 8"/>
          <p:cNvSpPr/>
          <p:nvPr/>
        </p:nvSpPr>
        <p:spPr>
          <a:xfrm>
            <a:off x="914400" y="1958483"/>
            <a:ext cx="2094708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3720" dirty="0"/>
          </a:p>
        </p:txBody>
      </p:sp>
      <p:sp>
        <p:nvSpPr>
          <p:cNvPr id="11" name="Text 9"/>
          <p:cNvSpPr/>
          <p:nvPr/>
        </p:nvSpPr>
        <p:spPr>
          <a:xfrm>
            <a:off x="2917668" y="1958483"/>
            <a:ext cx="1841419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EKS</a:t>
            </a:r>
            <a:endParaRPr lang="en-US" sz="3720" dirty="0"/>
          </a:p>
        </p:txBody>
      </p:sp>
      <p:sp>
        <p:nvSpPr>
          <p:cNvPr id="12" name="Text 10"/>
          <p:cNvSpPr/>
          <p:nvPr/>
        </p:nvSpPr>
        <p:spPr>
          <a:xfrm>
            <a:off x="4667646" y="1958483"/>
            <a:ext cx="957651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3720" dirty="0"/>
          </a:p>
        </p:txBody>
      </p:sp>
      <p:sp>
        <p:nvSpPr>
          <p:cNvPr id="13" name="Text 11"/>
          <p:cNvSpPr/>
          <p:nvPr/>
        </p:nvSpPr>
        <p:spPr>
          <a:xfrm>
            <a:off x="914400" y="2468627"/>
            <a:ext cx="2095988" cy="537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watched</a:t>
            </a:r>
            <a:endParaRPr lang="en-US" sz="3720" dirty="0"/>
          </a:p>
        </p:txBody>
      </p:sp>
      <p:sp>
        <p:nvSpPr>
          <p:cNvPr id="14" name="Text 12"/>
          <p:cNvSpPr/>
          <p:nvPr/>
        </p:nvSpPr>
        <p:spPr>
          <a:xfrm>
            <a:off x="914400" y="3153948"/>
            <a:ext cx="53239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builds VPC and EKS; Helm runs 2 replicas each;</a:t>
            </a:r>
            <a:endParaRPr lang="en-US" sz="1620" dirty="0"/>
          </a:p>
        </p:txBody>
      </p:sp>
      <p:sp>
        <p:nvSpPr>
          <p:cNvPr id="15" name="Text 13"/>
          <p:cNvSpPr/>
          <p:nvPr/>
        </p:nvSpPr>
        <p:spPr>
          <a:xfrm>
            <a:off x="914400" y="3462558"/>
            <a:ext cx="247573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shows it live.</a:t>
            </a:r>
            <a:endParaRPr lang="en-US" sz="1620" dirty="0"/>
          </a:p>
        </p:txBody>
      </p:sp>
      <p:sp>
        <p:nvSpPr>
          <p:cNvPr id="16" name="Text 14"/>
          <p:cNvSpPr/>
          <p:nvPr/>
        </p:nvSpPr>
        <p:spPr>
          <a:xfrm>
            <a:off x="914400" y="3967947"/>
            <a:ext cx="1727302" cy="987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86"/>
              </a:lnSpc>
              <a:buNone/>
            </a:pPr>
            <a:r>
              <a:rPr lang="en-US" sz="6960" b="1" spc="-200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6960" dirty="0"/>
          </a:p>
        </p:txBody>
      </p:sp>
      <p:sp>
        <p:nvSpPr>
          <p:cNvPr id="17" name="Text 15"/>
          <p:cNvSpPr/>
          <p:nvPr/>
        </p:nvSpPr>
        <p:spPr>
          <a:xfrm>
            <a:off x="2301728" y="4487509"/>
            <a:ext cx="64781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2" spc="99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PODS</a:t>
            </a:r>
            <a:endParaRPr lang="en-US" sz="1452" dirty="0"/>
          </a:p>
        </p:txBody>
      </p:sp>
      <p:sp>
        <p:nvSpPr>
          <p:cNvPr id="18" name="Text 16"/>
          <p:cNvSpPr/>
          <p:nvPr/>
        </p:nvSpPr>
        <p:spPr>
          <a:xfrm>
            <a:off x="2301728" y="4761829"/>
            <a:ext cx="1504645" cy="1798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66"/>
              </a:lnSpc>
              <a:buNone/>
            </a:pPr>
            <a:r>
              <a:rPr lang="en-US" sz="108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Running, 0 restarts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914400" y="5181630"/>
            <a:ext cx="674370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3970" y="5181630"/>
            <a:ext cx="53492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AZs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80210" y="5181630"/>
            <a:ext cx="850209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09780" y="5181630"/>
            <a:ext cx="729996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2-5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21859" y="5181630"/>
            <a:ext cx="1280800" cy="32004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F3F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51430" y="5181630"/>
            <a:ext cx="126796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 targets UP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6714805"/>
            <a:ext cx="5620542" cy="8138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6714805"/>
            <a:ext cx="5620542" cy="23186"/>
          </a:xfrm>
          <a:prstGeom prst="rect">
            <a:avLst/>
          </a:prstGeom>
          <a:solidFill>
            <a:srgbClr val="6E85FF"/>
          </a:solidFill>
          <a:ln w="12700">
            <a:solidFill>
              <a:srgbClr val="6E85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6897685"/>
            <a:ext cx="109060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EKS</a:t>
            </a:r>
            <a:endParaRPr lang="en-US" sz="1584" dirty="0"/>
          </a:p>
        </p:txBody>
      </p:sp>
      <p:sp>
        <p:nvSpPr>
          <p:cNvPr id="28" name="Text 26"/>
          <p:cNvSpPr/>
          <p:nvPr/>
        </p:nvSpPr>
        <p:spPr>
          <a:xfrm>
            <a:off x="914400" y="7263445"/>
            <a:ext cx="56571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control plane plus HPA scaling.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7083582" y="3154680"/>
            <a:ext cx="3429000" cy="228600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3582" y="3154680"/>
            <a:ext cx="3429000" cy="228600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10634563" y="3154680"/>
            <a:ext cx="3429000" cy="2286000"/>
          </a:xfrm>
          <a:prstGeom prst="rect">
            <a:avLst/>
          </a:prstGeom>
          <a:solidFill>
            <a:srgbClr val="F3F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34563" y="3154680"/>
            <a:ext cx="3429000" cy="228600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0643616" y="5562570"/>
            <a:ext cx="362888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ALL · GRAFANA</a:t>
            </a:r>
            <a:endParaRPr lang="en-US" sz="1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2396460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2791663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ALTERNATIVES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872570" y="720090"/>
            <a:ext cx="2248235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THESE TOOLS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70726"/>
            <a:ext cx="12893040" cy="5375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70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 vs options</a:t>
            </a:r>
            <a:endParaRPr lang="en-US" sz="3720" dirty="0"/>
          </a:p>
        </p:txBody>
      </p:sp>
      <p:sp>
        <p:nvSpPr>
          <p:cNvPr id="10" name="Shape 8"/>
          <p:cNvSpPr/>
          <p:nvPr/>
        </p:nvSpPr>
        <p:spPr>
          <a:xfrm>
            <a:off x="914400" y="2125614"/>
            <a:ext cx="12801600" cy="6629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65368"/>
            <a:ext cx="12801600" cy="23186"/>
          </a:xfrm>
          <a:prstGeom prst="rect">
            <a:avLst/>
          </a:prstGeom>
          <a:solidFill>
            <a:srgbClr val="F3F2EE"/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422794"/>
            <a:ext cx="75700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endParaRPr lang="en-US" sz="1386" dirty="0"/>
          </a:p>
        </p:txBody>
      </p:sp>
      <p:sp>
        <p:nvSpPr>
          <p:cNvPr id="13" name="Text 11"/>
          <p:cNvSpPr/>
          <p:nvPr/>
        </p:nvSpPr>
        <p:spPr>
          <a:xfrm>
            <a:off x="3764310" y="2125614"/>
            <a:ext cx="1071677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-25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</a:t>
            </a:r>
            <a:endParaRPr lang="en-US" sz="2040" dirty="0"/>
          </a:p>
        </p:txBody>
      </p:sp>
      <p:sp>
        <p:nvSpPr>
          <p:cNvPr id="14" name="Text 12"/>
          <p:cNvSpPr/>
          <p:nvPr/>
        </p:nvSpPr>
        <p:spPr>
          <a:xfrm>
            <a:off x="3764310" y="2453244"/>
            <a:ext cx="574436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</a:t>
            </a:r>
            <a:endParaRPr lang="en-US" sz="1254" dirty="0"/>
          </a:p>
        </p:txBody>
      </p:sp>
      <p:sp>
        <p:nvSpPr>
          <p:cNvPr id="15" name="Text 13"/>
          <p:cNvSpPr/>
          <p:nvPr/>
        </p:nvSpPr>
        <p:spPr>
          <a:xfrm>
            <a:off x="7086600" y="2125614"/>
            <a:ext cx="1236726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2040" dirty="0"/>
          </a:p>
        </p:txBody>
      </p:sp>
      <p:sp>
        <p:nvSpPr>
          <p:cNvPr id="16" name="Text 14"/>
          <p:cNvSpPr/>
          <p:nvPr/>
        </p:nvSpPr>
        <p:spPr>
          <a:xfrm>
            <a:off x="7086600" y="2453244"/>
            <a:ext cx="93721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SKIPPED</a:t>
            </a:r>
            <a:endParaRPr lang="en-US" sz="1254" dirty="0"/>
          </a:p>
        </p:txBody>
      </p:sp>
      <p:sp>
        <p:nvSpPr>
          <p:cNvPr id="17" name="Text 15"/>
          <p:cNvSpPr/>
          <p:nvPr/>
        </p:nvSpPr>
        <p:spPr>
          <a:xfrm>
            <a:off x="10408890" y="2125614"/>
            <a:ext cx="1236726" cy="3093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40" b="1" spc="-25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2040" dirty="0"/>
          </a:p>
        </p:txBody>
      </p:sp>
      <p:sp>
        <p:nvSpPr>
          <p:cNvPr id="18" name="Text 16"/>
          <p:cNvSpPr/>
          <p:nvPr/>
        </p:nvSpPr>
        <p:spPr>
          <a:xfrm>
            <a:off x="10408890" y="2453244"/>
            <a:ext cx="937218" cy="2407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4" spc="86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SKIPPED</a:t>
            </a:r>
            <a:endParaRPr lang="en-US" sz="1254" dirty="0"/>
          </a:p>
        </p:txBody>
      </p:sp>
      <p:sp>
        <p:nvSpPr>
          <p:cNvPr id="19" name="Shape 17"/>
          <p:cNvSpPr/>
          <p:nvPr/>
        </p:nvSpPr>
        <p:spPr>
          <a:xfrm>
            <a:off x="914400" y="2788554"/>
            <a:ext cx="12801600" cy="84133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618301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2992008"/>
            <a:ext cx="86029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3220608"/>
            <a:ext cx="158104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ORCHESTRATION</a:t>
            </a:r>
            <a:endParaRPr lang="en-US" sz="1188" dirty="0"/>
          </a:p>
        </p:txBody>
      </p:sp>
      <p:sp>
        <p:nvSpPr>
          <p:cNvPr id="23" name="Shape 21"/>
          <p:cNvSpPr/>
          <p:nvPr/>
        </p:nvSpPr>
        <p:spPr>
          <a:xfrm>
            <a:off x="3627150" y="2788554"/>
            <a:ext cx="3307110" cy="833658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64310" y="3052999"/>
            <a:ext cx="1661648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spc="-27" kern="0" dirty="0">
                <a:solidFill>
                  <a:srgbClr val="6E8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+ Helm</a:t>
            </a:r>
            <a:endParaRPr lang="en-US" sz="2160" dirty="0"/>
          </a:p>
        </p:txBody>
      </p:sp>
      <p:sp>
        <p:nvSpPr>
          <p:cNvPr id="25" name="Text 23"/>
          <p:cNvSpPr/>
          <p:nvPr/>
        </p:nvSpPr>
        <p:spPr>
          <a:xfrm>
            <a:off x="5387828" y="3144439"/>
            <a:ext cx="100822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PORTABLE</a:t>
            </a:r>
            <a:endParaRPr lang="en-US" sz="1188" dirty="0"/>
          </a:p>
        </p:txBody>
      </p:sp>
      <p:sp>
        <p:nvSpPr>
          <p:cNvPr id="26" name="Text 24"/>
          <p:cNvSpPr/>
          <p:nvPr/>
        </p:nvSpPr>
        <p:spPr>
          <a:xfrm>
            <a:off x="7086600" y="3052999"/>
            <a:ext cx="1805026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spc="-27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ECS Fargate</a:t>
            </a:r>
            <a:endParaRPr lang="en-US" sz="2160" dirty="0"/>
          </a:p>
        </p:txBody>
      </p:sp>
      <p:sp>
        <p:nvSpPr>
          <p:cNvPr id="27" name="Text 25"/>
          <p:cNvSpPr/>
          <p:nvPr/>
        </p:nvSpPr>
        <p:spPr>
          <a:xfrm>
            <a:off x="8815182" y="3144439"/>
            <a:ext cx="100822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PORTABLE</a:t>
            </a:r>
            <a:endParaRPr lang="en-US" sz="1188" dirty="0"/>
          </a:p>
        </p:txBody>
      </p:sp>
      <p:sp>
        <p:nvSpPr>
          <p:cNvPr id="28" name="Text 26"/>
          <p:cNvSpPr/>
          <p:nvPr/>
        </p:nvSpPr>
        <p:spPr>
          <a:xfrm>
            <a:off x="10408890" y="3052999"/>
            <a:ext cx="2057126" cy="3322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60" b="1" spc="-27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Swarm</a:t>
            </a:r>
            <a:endParaRPr lang="en-US" sz="2160" dirty="0"/>
          </a:p>
        </p:txBody>
      </p:sp>
      <p:sp>
        <p:nvSpPr>
          <p:cNvPr id="29" name="Text 27"/>
          <p:cNvSpPr/>
          <p:nvPr/>
        </p:nvSpPr>
        <p:spPr>
          <a:xfrm>
            <a:off x="12427976" y="3144439"/>
            <a:ext cx="100822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PORTABLE</a:t>
            </a:r>
            <a:endParaRPr lang="en-US" sz="1188" dirty="0"/>
          </a:p>
        </p:txBody>
      </p:sp>
      <p:sp>
        <p:nvSpPr>
          <p:cNvPr id="30" name="Shape 28"/>
          <p:cNvSpPr/>
          <p:nvPr/>
        </p:nvSpPr>
        <p:spPr>
          <a:xfrm>
            <a:off x="914400" y="3629894"/>
            <a:ext cx="12801600" cy="841431"/>
          </a:xfrm>
          <a:prstGeom prst="rect">
            <a:avLst/>
          </a:prstGeom>
          <a:solidFill>
            <a:srgbClr val="161513">
              <a:alpha val="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459732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3833348"/>
            <a:ext cx="70218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51560" y="4061948"/>
            <a:ext cx="1237355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AUTOMATION</a:t>
            </a:r>
            <a:endParaRPr lang="en-US" sz="1188" dirty="0"/>
          </a:p>
        </p:txBody>
      </p:sp>
      <p:sp>
        <p:nvSpPr>
          <p:cNvPr id="34" name="Shape 32"/>
          <p:cNvSpPr/>
          <p:nvPr/>
        </p:nvSpPr>
        <p:spPr>
          <a:xfrm>
            <a:off x="3627150" y="3629894"/>
            <a:ext cx="3307110" cy="833750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764310" y="3928628"/>
            <a:ext cx="1291742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 Actions</a:t>
            </a:r>
            <a:endParaRPr lang="en-US" sz="1680" dirty="0"/>
          </a:p>
        </p:txBody>
      </p:sp>
      <p:sp>
        <p:nvSpPr>
          <p:cNvPr id="36" name="Text 34"/>
          <p:cNvSpPr/>
          <p:nvPr/>
        </p:nvSpPr>
        <p:spPr>
          <a:xfrm>
            <a:off x="4954768" y="3966667"/>
            <a:ext cx="133833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REPO-NATIVE</a:t>
            </a:r>
            <a:endParaRPr lang="en-US" sz="1188" dirty="0"/>
          </a:p>
        </p:txBody>
      </p:sp>
      <p:sp>
        <p:nvSpPr>
          <p:cNvPr id="37" name="Text 35"/>
          <p:cNvSpPr/>
          <p:nvPr/>
        </p:nvSpPr>
        <p:spPr>
          <a:xfrm>
            <a:off x="7086600" y="3928628"/>
            <a:ext cx="950366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Jenkins</a:t>
            </a:r>
            <a:endParaRPr lang="en-US" sz="1680" dirty="0"/>
          </a:p>
        </p:txBody>
      </p:sp>
      <p:sp>
        <p:nvSpPr>
          <p:cNvPr id="38" name="Text 36"/>
          <p:cNvSpPr/>
          <p:nvPr/>
        </p:nvSpPr>
        <p:spPr>
          <a:xfrm>
            <a:off x="7932329" y="3966667"/>
            <a:ext cx="133833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REPO-NATIVE</a:t>
            </a:r>
            <a:endParaRPr lang="en-US" sz="1188" dirty="0"/>
          </a:p>
        </p:txBody>
      </p:sp>
      <p:sp>
        <p:nvSpPr>
          <p:cNvPr id="39" name="Text 37"/>
          <p:cNvSpPr/>
          <p:nvPr/>
        </p:nvSpPr>
        <p:spPr>
          <a:xfrm>
            <a:off x="10408890" y="3928628"/>
            <a:ext cx="1193597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CI</a:t>
            </a:r>
            <a:endParaRPr lang="en-US" sz="1680" dirty="0"/>
          </a:p>
        </p:txBody>
      </p:sp>
      <p:sp>
        <p:nvSpPr>
          <p:cNvPr id="40" name="Text 38"/>
          <p:cNvSpPr/>
          <p:nvPr/>
        </p:nvSpPr>
        <p:spPr>
          <a:xfrm>
            <a:off x="11386292" y="3966667"/>
            <a:ext cx="133833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REPO-NATIVE</a:t>
            </a:r>
            <a:endParaRPr lang="en-US" sz="1188" dirty="0"/>
          </a:p>
        </p:txBody>
      </p:sp>
      <p:sp>
        <p:nvSpPr>
          <p:cNvPr id="41" name="Shape 39"/>
          <p:cNvSpPr/>
          <p:nvPr/>
        </p:nvSpPr>
        <p:spPr>
          <a:xfrm>
            <a:off x="914400" y="4471233"/>
            <a:ext cx="12801600" cy="84133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0" y="5300980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51560" y="4674779"/>
            <a:ext cx="45834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IaC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51560" y="4903379"/>
            <a:ext cx="169560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</a:t>
            </a:r>
            <a:endParaRPr lang="en-US" sz="1188" dirty="0"/>
          </a:p>
        </p:txBody>
      </p:sp>
      <p:sp>
        <p:nvSpPr>
          <p:cNvPr id="45" name="Shape 43"/>
          <p:cNvSpPr/>
          <p:nvPr/>
        </p:nvSpPr>
        <p:spPr>
          <a:xfrm>
            <a:off x="3627150" y="4471233"/>
            <a:ext cx="3307110" cy="833658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764310" y="4769968"/>
            <a:ext cx="1185062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680" dirty="0"/>
          </a:p>
        </p:txBody>
      </p:sp>
      <p:sp>
        <p:nvSpPr>
          <p:cNvPr id="47" name="Text 45"/>
          <p:cNvSpPr/>
          <p:nvPr/>
        </p:nvSpPr>
        <p:spPr>
          <a:xfrm>
            <a:off x="4796760" y="4808098"/>
            <a:ext cx="133833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MULTI-CLOUD</a:t>
            </a:r>
            <a:endParaRPr lang="en-US" sz="1188" dirty="0"/>
          </a:p>
        </p:txBody>
      </p:sp>
      <p:sp>
        <p:nvSpPr>
          <p:cNvPr id="48" name="Text 46"/>
          <p:cNvSpPr/>
          <p:nvPr/>
        </p:nvSpPr>
        <p:spPr>
          <a:xfrm>
            <a:off x="7086600" y="4769968"/>
            <a:ext cx="1791005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CloudFormation</a:t>
            </a:r>
            <a:endParaRPr lang="en-US" sz="1680" dirty="0"/>
          </a:p>
        </p:txBody>
      </p:sp>
      <p:sp>
        <p:nvSpPr>
          <p:cNvPr id="49" name="Text 47"/>
          <p:cNvSpPr/>
          <p:nvPr/>
        </p:nvSpPr>
        <p:spPr>
          <a:xfrm>
            <a:off x="8753003" y="4808098"/>
            <a:ext cx="133833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MULTI-CLOUD</a:t>
            </a:r>
            <a:endParaRPr lang="en-US" sz="1188" dirty="0"/>
          </a:p>
        </p:txBody>
      </p:sp>
      <p:sp>
        <p:nvSpPr>
          <p:cNvPr id="50" name="Text 48"/>
          <p:cNvSpPr/>
          <p:nvPr/>
        </p:nvSpPr>
        <p:spPr>
          <a:xfrm>
            <a:off x="10408890" y="4769968"/>
            <a:ext cx="833018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Pulumi</a:t>
            </a:r>
            <a:endParaRPr lang="en-US" sz="1680" dirty="0"/>
          </a:p>
        </p:txBody>
      </p:sp>
      <p:sp>
        <p:nvSpPr>
          <p:cNvPr id="51" name="Text 49"/>
          <p:cNvSpPr/>
          <p:nvPr/>
        </p:nvSpPr>
        <p:spPr>
          <a:xfrm>
            <a:off x="11155314" y="4808098"/>
            <a:ext cx="1338339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MULTI-CLOUD</a:t>
            </a:r>
            <a:endParaRPr lang="en-US" sz="1188" dirty="0"/>
          </a:p>
        </p:txBody>
      </p:sp>
      <p:sp>
        <p:nvSpPr>
          <p:cNvPr id="52" name="Shape 50"/>
          <p:cNvSpPr/>
          <p:nvPr/>
        </p:nvSpPr>
        <p:spPr>
          <a:xfrm>
            <a:off x="914400" y="5312573"/>
            <a:ext cx="12801600" cy="841339"/>
          </a:xfrm>
          <a:prstGeom prst="rect">
            <a:avLst/>
          </a:prstGeom>
          <a:solidFill>
            <a:srgbClr val="161513">
              <a:alpha val="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0" y="6142319"/>
            <a:ext cx="12801600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1560" y="5516027"/>
            <a:ext cx="965073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051560" y="5744627"/>
            <a:ext cx="77910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</a:t>
            </a:r>
            <a:endParaRPr lang="en-US" sz="1188" dirty="0"/>
          </a:p>
        </p:txBody>
      </p:sp>
      <p:sp>
        <p:nvSpPr>
          <p:cNvPr id="56" name="Shape 54"/>
          <p:cNvSpPr/>
          <p:nvPr/>
        </p:nvSpPr>
        <p:spPr>
          <a:xfrm>
            <a:off x="3627150" y="5312573"/>
            <a:ext cx="3307110" cy="833658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764310" y="5611307"/>
            <a:ext cx="727314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GHCR</a:t>
            </a:r>
            <a:endParaRPr lang="en-US" sz="1680" dirty="0"/>
          </a:p>
        </p:txBody>
      </p:sp>
      <p:sp>
        <p:nvSpPr>
          <p:cNvPr id="58" name="Text 56"/>
          <p:cNvSpPr/>
          <p:nvPr/>
        </p:nvSpPr>
        <p:spPr>
          <a:xfrm>
            <a:off x="4453494" y="5649438"/>
            <a:ext cx="159904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WITH REPO</a:t>
            </a:r>
            <a:endParaRPr lang="en-US" sz="1188" dirty="0"/>
          </a:p>
        </p:txBody>
      </p:sp>
      <p:sp>
        <p:nvSpPr>
          <p:cNvPr id="59" name="Text 57"/>
          <p:cNvSpPr/>
          <p:nvPr/>
        </p:nvSpPr>
        <p:spPr>
          <a:xfrm>
            <a:off x="7086600" y="5611307"/>
            <a:ext cx="1272540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Hub</a:t>
            </a:r>
            <a:endParaRPr lang="en-US" sz="1680" dirty="0"/>
          </a:p>
        </p:txBody>
      </p:sp>
      <p:sp>
        <p:nvSpPr>
          <p:cNvPr id="60" name="Text 58"/>
          <p:cNvSpPr/>
          <p:nvPr/>
        </p:nvSpPr>
        <p:spPr>
          <a:xfrm>
            <a:off x="8305770" y="5649438"/>
            <a:ext cx="159904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WITH REPO</a:t>
            </a:r>
            <a:endParaRPr lang="en-US" sz="1188" dirty="0"/>
          </a:p>
        </p:txBody>
      </p:sp>
      <p:sp>
        <p:nvSpPr>
          <p:cNvPr id="61" name="Text 59"/>
          <p:cNvSpPr/>
          <p:nvPr/>
        </p:nvSpPr>
        <p:spPr>
          <a:xfrm>
            <a:off x="10408890" y="5611307"/>
            <a:ext cx="543062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</a:t>
            </a:r>
            <a:endParaRPr lang="en-US" sz="1680" dirty="0"/>
          </a:p>
        </p:txBody>
      </p:sp>
      <p:sp>
        <p:nvSpPr>
          <p:cNvPr id="62" name="Text 60"/>
          <p:cNvSpPr/>
          <p:nvPr/>
        </p:nvSpPr>
        <p:spPr>
          <a:xfrm>
            <a:off x="10913821" y="5649438"/>
            <a:ext cx="159904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WITH REPO</a:t>
            </a:r>
            <a:endParaRPr lang="en-US" sz="1188" dirty="0"/>
          </a:p>
        </p:txBody>
      </p:sp>
      <p:sp>
        <p:nvSpPr>
          <p:cNvPr id="63" name="Text 61"/>
          <p:cNvSpPr/>
          <p:nvPr/>
        </p:nvSpPr>
        <p:spPr>
          <a:xfrm>
            <a:off x="1051560" y="6357366"/>
            <a:ext cx="860298" cy="233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1051560" y="6585966"/>
            <a:ext cx="158104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1188" dirty="0"/>
          </a:p>
        </p:txBody>
      </p:sp>
      <p:sp>
        <p:nvSpPr>
          <p:cNvPr id="65" name="Shape 63"/>
          <p:cNvSpPr/>
          <p:nvPr/>
        </p:nvSpPr>
        <p:spPr>
          <a:xfrm>
            <a:off x="3627150" y="6153821"/>
            <a:ext cx="3307110" cy="833658"/>
          </a:xfrm>
          <a:prstGeom prst="rect">
            <a:avLst/>
          </a:prstGeom>
          <a:solidFill>
            <a:srgbClr val="2742EC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76200" dist="28575" dir="16200000">
              <a:srgbClr val="6E85FF">
                <a:alpha val="7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3764310" y="6452555"/>
            <a:ext cx="1312987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680" dirty="0"/>
          </a:p>
        </p:txBody>
      </p:sp>
      <p:sp>
        <p:nvSpPr>
          <p:cNvPr id="67" name="Text 65"/>
          <p:cNvSpPr/>
          <p:nvPr/>
        </p:nvSpPr>
        <p:spPr>
          <a:xfrm>
            <a:off x="5039167" y="6490686"/>
            <a:ext cx="130363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SOURCE</a:t>
            </a:r>
            <a:endParaRPr lang="en-US" sz="1188" dirty="0"/>
          </a:p>
        </p:txBody>
      </p:sp>
      <p:sp>
        <p:nvSpPr>
          <p:cNvPr id="68" name="Text 66"/>
          <p:cNvSpPr/>
          <p:nvPr/>
        </p:nvSpPr>
        <p:spPr>
          <a:xfrm>
            <a:off x="7086600" y="6452555"/>
            <a:ext cx="1321613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1680" dirty="0"/>
          </a:p>
        </p:txBody>
      </p:sp>
      <p:sp>
        <p:nvSpPr>
          <p:cNvPr id="69" name="Text 67"/>
          <p:cNvSpPr/>
          <p:nvPr/>
        </p:nvSpPr>
        <p:spPr>
          <a:xfrm>
            <a:off x="8362920" y="6490686"/>
            <a:ext cx="130363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SOURCE</a:t>
            </a:r>
            <a:endParaRPr lang="en-US" sz="1188" dirty="0"/>
          </a:p>
        </p:txBody>
      </p:sp>
      <p:sp>
        <p:nvSpPr>
          <p:cNvPr id="70" name="Text 68"/>
          <p:cNvSpPr/>
          <p:nvPr/>
        </p:nvSpPr>
        <p:spPr>
          <a:xfrm>
            <a:off x="10408890" y="6452555"/>
            <a:ext cx="950366" cy="26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80" b="1" spc="-21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</a:t>
            </a:r>
            <a:endParaRPr lang="en-US" sz="1680" dirty="0"/>
          </a:p>
        </p:txBody>
      </p:sp>
      <p:sp>
        <p:nvSpPr>
          <p:cNvPr id="71" name="Text 69"/>
          <p:cNvSpPr/>
          <p:nvPr/>
        </p:nvSpPr>
        <p:spPr>
          <a:xfrm>
            <a:off x="11315791" y="6490686"/>
            <a:ext cx="1303637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88" spc="81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SOURCE</a:t>
            </a:r>
            <a:endParaRPr lang="en-US" sz="1188" dirty="0"/>
          </a:p>
        </p:txBody>
      </p:sp>
      <p:sp>
        <p:nvSpPr>
          <p:cNvPr id="72" name="Shape 70"/>
          <p:cNvSpPr/>
          <p:nvPr/>
        </p:nvSpPr>
        <p:spPr>
          <a:xfrm>
            <a:off x="914400" y="7124730"/>
            <a:ext cx="12801600" cy="4038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4400" y="7124730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14400" y="7254210"/>
            <a:ext cx="696727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6E8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</a:t>
            </a:r>
            <a:endParaRPr lang="en-US" sz="1584" dirty="0"/>
          </a:p>
        </p:txBody>
      </p:sp>
      <p:sp>
        <p:nvSpPr>
          <p:cNvPr id="75" name="Text 73"/>
          <p:cNvSpPr/>
          <p:nvPr/>
        </p:nvSpPr>
        <p:spPr>
          <a:xfrm>
            <a:off x="1543141" y="7258782"/>
            <a:ext cx="3421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managed, open and free for students.</a:t>
            </a:r>
            <a:endParaRPr lang="en-US" sz="1440" dirty="0"/>
          </a:p>
        </p:txBody>
      </p:sp>
      <p:pic>
        <p:nvPicPr>
          <p:cNvPr id="7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0" y="97539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2040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6151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701070"/>
            <a:ext cx="12801600" cy="4876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177127"/>
            <a:ext cx="12801600" cy="11593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701070"/>
            <a:ext cx="1354775" cy="312450"/>
          </a:xfrm>
          <a:prstGeom prst="rect">
            <a:avLst/>
          </a:prstGeom>
          <a:solidFill>
            <a:srgbClr val="2742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701070"/>
            <a:ext cx="1524122" cy="33988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584" b="1" spc="180" kern="0" dirty="0">
                <a:solidFill>
                  <a:srgbClr val="F3F5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1584" dirty="0"/>
          </a:p>
        </p:txBody>
      </p:sp>
      <p:sp>
        <p:nvSpPr>
          <p:cNvPr id="8" name="Text 6"/>
          <p:cNvSpPr/>
          <p:nvPr/>
        </p:nvSpPr>
        <p:spPr>
          <a:xfrm>
            <a:off x="11872570" y="720090"/>
            <a:ext cx="223013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KAIROS · DEVOPS</a:t>
            </a:r>
            <a:endParaRPr lang="en-US" sz="1584" dirty="0"/>
          </a:p>
        </p:txBody>
      </p:sp>
      <p:sp>
        <p:nvSpPr>
          <p:cNvPr id="9" name="Text 7"/>
          <p:cNvSpPr/>
          <p:nvPr/>
        </p:nvSpPr>
        <p:spPr>
          <a:xfrm>
            <a:off x="914400" y="1489739"/>
            <a:ext cx="1905152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5520" dirty="0"/>
          </a:p>
        </p:txBody>
      </p:sp>
      <p:sp>
        <p:nvSpPr>
          <p:cNvPr id="10" name="Text 8"/>
          <p:cNvSpPr/>
          <p:nvPr/>
        </p:nvSpPr>
        <p:spPr>
          <a:xfrm>
            <a:off x="914400" y="2239821"/>
            <a:ext cx="1808317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</a:t>
            </a:r>
            <a:endParaRPr lang="en-US" sz="5520" dirty="0"/>
          </a:p>
        </p:txBody>
      </p:sp>
      <p:sp>
        <p:nvSpPr>
          <p:cNvPr id="11" name="Text 9"/>
          <p:cNvSpPr/>
          <p:nvPr/>
        </p:nvSpPr>
        <p:spPr>
          <a:xfrm>
            <a:off x="2631277" y="2239821"/>
            <a:ext cx="2237445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274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</a:t>
            </a:r>
            <a:endParaRPr lang="en-US" sz="5520" dirty="0"/>
          </a:p>
        </p:txBody>
      </p:sp>
      <p:sp>
        <p:nvSpPr>
          <p:cNvPr id="12" name="Text 10"/>
          <p:cNvSpPr/>
          <p:nvPr/>
        </p:nvSpPr>
        <p:spPr>
          <a:xfrm>
            <a:off x="4777283" y="2239821"/>
            <a:ext cx="1652016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5520" dirty="0"/>
          </a:p>
        </p:txBody>
      </p:sp>
      <p:sp>
        <p:nvSpPr>
          <p:cNvPr id="13" name="Text 11"/>
          <p:cNvSpPr/>
          <p:nvPr/>
        </p:nvSpPr>
        <p:spPr>
          <a:xfrm>
            <a:off x="914400" y="2989904"/>
            <a:ext cx="2423160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274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safely</a:t>
            </a:r>
            <a:endParaRPr lang="en-US" sz="5520" dirty="0"/>
          </a:p>
        </p:txBody>
      </p:sp>
      <p:sp>
        <p:nvSpPr>
          <p:cNvPr id="14" name="Text 12"/>
          <p:cNvSpPr/>
          <p:nvPr/>
        </p:nvSpPr>
        <p:spPr>
          <a:xfrm>
            <a:off x="3058942" y="2989904"/>
            <a:ext cx="495300" cy="7894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906"/>
              </a:lnSpc>
              <a:buNone/>
            </a:pPr>
            <a:r>
              <a:rPr lang="en-US" sz="5520" b="1" spc="-138" kern="0" dirty="0">
                <a:solidFill>
                  <a:srgbClr val="F3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520" dirty="0"/>
          </a:p>
        </p:txBody>
      </p:sp>
      <p:sp>
        <p:nvSpPr>
          <p:cNvPr id="15" name="Text 13"/>
          <p:cNvSpPr/>
          <p:nvPr/>
        </p:nvSpPr>
        <p:spPr>
          <a:xfrm>
            <a:off x="914400" y="3926708"/>
            <a:ext cx="5522976" cy="33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git push to monitored pods on AWS.</a:t>
            </a:r>
            <a:endParaRPr lang="en-US" sz="1620" dirty="0"/>
          </a:p>
        </p:txBody>
      </p:sp>
      <p:sp>
        <p:nvSpPr>
          <p:cNvPr id="16" name="Shape 14"/>
          <p:cNvSpPr/>
          <p:nvPr/>
        </p:nvSpPr>
        <p:spPr>
          <a:xfrm>
            <a:off x="914400" y="7124730"/>
            <a:ext cx="6413327" cy="75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7269480"/>
            <a:ext cx="1781665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103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PRABAL PATRA</a:t>
            </a:r>
            <a:endParaRPr lang="en-US" sz="1518" dirty="0"/>
          </a:p>
        </p:txBody>
      </p:sp>
      <p:sp>
        <p:nvSpPr>
          <p:cNvPr id="18" name="Text 16"/>
          <p:cNvSpPr/>
          <p:nvPr/>
        </p:nvSpPr>
        <p:spPr>
          <a:xfrm>
            <a:off x="2663099" y="7269480"/>
            <a:ext cx="1196121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103" kern="0" dirty="0">
                <a:solidFill>
                  <a:srgbClr val="B8B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OCT 2026</a:t>
            </a:r>
            <a:endParaRPr lang="en-US" sz="1518" dirty="0"/>
          </a:p>
        </p:txBody>
      </p:sp>
      <p:sp>
        <p:nvSpPr>
          <p:cNvPr id="19" name="Text 17"/>
          <p:cNvSpPr/>
          <p:nvPr/>
        </p:nvSpPr>
        <p:spPr>
          <a:xfrm>
            <a:off x="3940607" y="7269480"/>
            <a:ext cx="1257812" cy="286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18" spc="103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</a:t>
            </a:r>
            <a:endParaRPr lang="en-US" sz="1518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">
            <a:off x="1219170" y="4114800"/>
            <a:ext cx="1600200" cy="16002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937266" y="1463040"/>
            <a:ext cx="5778734" cy="606549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37266" y="1463040"/>
            <a:ext cx="11593" cy="6065490"/>
          </a:xfrm>
          <a:prstGeom prst="rect">
            <a:avLst/>
          </a:prstGeom>
          <a:solidFill>
            <a:srgbClr val="F3F2EE">
              <a:alpha val="22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71606" y="2610703"/>
            <a:ext cx="84947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LINKS</a:t>
            </a:r>
            <a:endParaRPr lang="en-US" sz="1584" dirty="0"/>
          </a:p>
        </p:txBody>
      </p:sp>
      <p:sp>
        <p:nvSpPr>
          <p:cNvPr id="24" name="Text 21"/>
          <p:cNvSpPr/>
          <p:nvPr/>
        </p:nvSpPr>
        <p:spPr>
          <a:xfrm>
            <a:off x="8371606" y="3174522"/>
            <a:ext cx="623352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endParaRPr lang="en-US" sz="1386" dirty="0"/>
          </a:p>
        </p:txBody>
      </p:sp>
      <p:sp>
        <p:nvSpPr>
          <p:cNvPr id="25" name="Text 22"/>
          <p:cNvSpPr/>
          <p:nvPr/>
        </p:nvSpPr>
        <p:spPr>
          <a:xfrm>
            <a:off x="9423166" y="3205063"/>
            <a:ext cx="300837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github.com/alienx5499/Kairos</a:t>
            </a:r>
            <a:endParaRPr lang="en-US" sz="1440" dirty="0"/>
          </a:p>
        </p:txBody>
      </p:sp>
      <p:sp>
        <p:nvSpPr>
          <p:cNvPr id="26" name="Shape 23"/>
          <p:cNvSpPr/>
          <p:nvPr/>
        </p:nvSpPr>
        <p:spPr>
          <a:xfrm>
            <a:off x="8371606" y="3561679"/>
            <a:ext cx="5344394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71606" y="3561679"/>
            <a:ext cx="5344394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71606" y="3691158"/>
            <a:ext cx="356039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</a:t>
            </a:r>
            <a:endParaRPr lang="en-US" sz="1386" dirty="0"/>
          </a:p>
        </p:txBody>
      </p:sp>
      <p:sp>
        <p:nvSpPr>
          <p:cNvPr id="29" name="Text 26"/>
          <p:cNvSpPr/>
          <p:nvPr/>
        </p:nvSpPr>
        <p:spPr>
          <a:xfrm>
            <a:off x="9423166" y="3721699"/>
            <a:ext cx="2648102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· ci-cd.yml</a:t>
            </a:r>
            <a:endParaRPr lang="en-US" sz="1440" dirty="0"/>
          </a:p>
        </p:txBody>
      </p:sp>
      <p:sp>
        <p:nvSpPr>
          <p:cNvPr id="30" name="Shape 27"/>
          <p:cNvSpPr/>
          <p:nvPr/>
        </p:nvSpPr>
        <p:spPr>
          <a:xfrm>
            <a:off x="8371606" y="4078224"/>
            <a:ext cx="5344394" cy="51663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71606" y="4078224"/>
            <a:ext cx="5344394" cy="11593"/>
          </a:xfrm>
          <a:prstGeom prst="rect">
            <a:avLst/>
          </a:prstGeom>
          <a:solidFill>
            <a:srgbClr val="F3F2EE">
              <a:alpha val="10000"/>
            </a:srgbClr>
          </a:solidFill>
          <a:ln w="12700">
            <a:solidFill>
              <a:srgbClr val="F3F2EE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71606" y="4207794"/>
            <a:ext cx="890666" cy="271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86" spc="95" kern="0" dirty="0">
                <a:solidFill>
                  <a:srgbClr val="848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</a:t>
            </a:r>
            <a:endParaRPr lang="en-US" sz="1386" dirty="0"/>
          </a:p>
        </p:txBody>
      </p:sp>
      <p:sp>
        <p:nvSpPr>
          <p:cNvPr id="33" name="Text 30"/>
          <p:cNvSpPr/>
          <p:nvPr/>
        </p:nvSpPr>
        <p:spPr>
          <a:xfrm>
            <a:off x="9423166" y="4238244"/>
            <a:ext cx="2891333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ghcr.io/alienx5499/kairos-*</a:t>
            </a:r>
            <a:endParaRPr lang="en-US" sz="1440" dirty="0"/>
          </a:p>
        </p:txBody>
      </p:sp>
      <p:sp>
        <p:nvSpPr>
          <p:cNvPr id="34" name="Shape 31"/>
          <p:cNvSpPr/>
          <p:nvPr/>
        </p:nvSpPr>
        <p:spPr>
          <a:xfrm>
            <a:off x="8371606" y="4823460"/>
            <a:ext cx="5344394" cy="155749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742EC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71606" y="4823460"/>
            <a:ext cx="5344394" cy="23186"/>
          </a:xfrm>
          <a:prstGeom prst="rect">
            <a:avLst/>
          </a:prstGeom>
          <a:solidFill>
            <a:srgbClr val="2742EC"/>
          </a:solidFill>
          <a:ln w="12700">
            <a:solidFill>
              <a:srgbClr val="2742EC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371606" y="5021610"/>
            <a:ext cx="1154979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endParaRPr lang="en-US" sz="1584" dirty="0"/>
          </a:p>
        </p:txBody>
      </p:sp>
      <p:sp>
        <p:nvSpPr>
          <p:cNvPr id="37" name="Text 34"/>
          <p:cNvSpPr/>
          <p:nvPr/>
        </p:nvSpPr>
        <p:spPr>
          <a:xfrm>
            <a:off x="8371606" y="5394960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7"/>
              </a:lnSpc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84" dirty="0"/>
          </a:p>
        </p:txBody>
      </p:sp>
      <p:sp>
        <p:nvSpPr>
          <p:cNvPr id="38" name="Text 35"/>
          <p:cNvSpPr/>
          <p:nvPr/>
        </p:nvSpPr>
        <p:spPr>
          <a:xfrm>
            <a:off x="8708928" y="5433090"/>
            <a:ext cx="1366114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tests pass</a:t>
            </a:r>
            <a:endParaRPr lang="en-US" sz="1440" dirty="0"/>
          </a:p>
        </p:txBody>
      </p:sp>
      <p:sp>
        <p:nvSpPr>
          <p:cNvPr id="39" name="Text 36"/>
          <p:cNvSpPr/>
          <p:nvPr/>
        </p:nvSpPr>
        <p:spPr>
          <a:xfrm>
            <a:off x="8371606" y="5751576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7"/>
              </a:lnSpc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84" dirty="0"/>
          </a:p>
        </p:txBody>
      </p:sp>
      <p:sp>
        <p:nvSpPr>
          <p:cNvPr id="40" name="Text 37"/>
          <p:cNvSpPr/>
          <p:nvPr/>
        </p:nvSpPr>
        <p:spPr>
          <a:xfrm>
            <a:off x="8708928" y="5789615"/>
            <a:ext cx="1499616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fixable CVEs</a:t>
            </a:r>
            <a:endParaRPr lang="en-US" sz="1440" dirty="0"/>
          </a:p>
        </p:txBody>
      </p:sp>
      <p:sp>
        <p:nvSpPr>
          <p:cNvPr id="41" name="Text 38"/>
          <p:cNvSpPr/>
          <p:nvPr/>
        </p:nvSpPr>
        <p:spPr>
          <a:xfrm>
            <a:off x="8371606" y="6108101"/>
            <a:ext cx="39122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97"/>
              </a:lnSpc>
              <a:buNone/>
            </a:pPr>
            <a:r>
              <a:rPr lang="en-US" sz="1584" spc="108" kern="0" dirty="0">
                <a:solidFill>
                  <a:srgbClr val="2742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84" dirty="0"/>
          </a:p>
        </p:txBody>
      </p:sp>
      <p:sp>
        <p:nvSpPr>
          <p:cNvPr id="42" name="Text 39"/>
          <p:cNvSpPr/>
          <p:nvPr/>
        </p:nvSpPr>
        <p:spPr>
          <a:xfrm>
            <a:off x="8708928" y="6146231"/>
            <a:ext cx="2011680" cy="2255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B8B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Torn down after demo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Deck Export</dc:title>
  <dc:subject>Editable PPTX export</dc:subject>
  <dc:creator>Dashi PPT</dc:creator>
  <cp:lastModifiedBy>Dashi PPT</cp:lastModifiedBy>
  <cp:revision>1</cp:revision>
  <dcterms:created xsi:type="dcterms:W3CDTF">2026-10-15T16:13:56Z</dcterms:created>
  <dcterms:modified xsi:type="dcterms:W3CDTF">2026-10-15T16:13:56Z</dcterms:modified>
</cp:coreProperties>
</file>